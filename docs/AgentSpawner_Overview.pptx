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1280160"/>
            <a:ext cx="9144000" cy="260604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640080"/>
            <a:ext cx="9070848" cy="914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1005840"/>
            <a:ext cx="9070848" cy="914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" y="3840480"/>
            <a:ext cx="9070848" cy="914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4297680"/>
            <a:ext cx="9070848" cy="914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C8E0"/>
                </a:solidFill>
                <a:latin typeface="Calibri"/>
              </a:rPr>
              <a:t>SPAWNER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F0F8"/>
                </a:solidFill>
                <a:latin typeface="Calibri"/>
              </a:rPr>
              <a:t>Autonomous AI Agent Automation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07A8A"/>
                </a:solidFill>
                <a:latin typeface="Calibri"/>
              </a:rPr>
              <a:t>Multi-agent orchestration  ·  Browser automation  ·  Human-in-the-loop  ·  Continuous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"/>
            <a:ext cx="3017520" cy="2560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v1.0 —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AgentSpawner?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F2133"/>
                </a:solidFill>
                <a:latin typeface="Calibri"/>
              </a:rPr>
              <a:t>A full-stack framework that lets AI agents autonomously browse the web, make decisions, automate workflows, and learn from human feedback — all while keeping humans in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54864" cy="13716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011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3042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Specialized Claude instances (Haiku &amp; Sonnet)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each handle distinct jobs — planning, scraping,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acting, building tools, and reviewing.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92024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92024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2011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Browser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3042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Chrome extension enables real-time tab control.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Navigate, click, type, extract — on any website.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Handles both read-only and side-effecting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2044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2044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611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Continuous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9044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Manager Agent loops up to 1,000 iterations per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session using cost-efficient Claude Haiku ($0.01/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iteration). Pauses for supervisor check-ins.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52044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520440"/>
            <a:ext cx="54864" cy="137160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3611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Memory &amp;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9044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Persistent fact memory enriched by AI. Tone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corrections stored and compiled into guidelines.</a:t>
            </a:r>
          </a:p>
          <a:p>
            <a:pPr algn="l"/>
            <a:r>
              <a:rPr sz="1000" b="0" i="0">
                <a:solidFill>
                  <a:srgbClr val="5E7890"/>
                </a:solidFill>
                <a:latin typeface="Calibri"/>
              </a:rPr>
              <a:t>Agents improve with every human 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React + TypeScript  |  Vite  |  SSE streaming for live agent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8412480" cy="658368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73152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91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Fastify (Node.js)  |  TypeScript  |  Drizzle ORM  |  SQLite  |  WebSocket  |  node-cron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8412480" cy="658368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16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CHROME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Manifest V3  |  Background worker  |  Offscreen tab automation  |  Content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593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7A8A"/>
                </a:solidFill>
                <a:latin typeface="Calibri"/>
              </a:rPr>
              <a:t>↕  WebSocket  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4023360" cy="9144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05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15BF0"/>
                </a:solidFill>
                <a:latin typeface="Calibri"/>
              </a:rPr>
              <a:t>ANTHROPIC CLAUDE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793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Haiku  ·  Sonnet  ·  Opus  —  per-agent model config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931920"/>
            <a:ext cx="4023360" cy="9144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393192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4005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SQLITE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27939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Drizzle ORM  ·  Agents, Tools, Flows, Memory, Goals…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6 Specialist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4864" cy="1691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Manager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417320" cy="2286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618488"/>
            <a:ext cx="138074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claude-haiku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83664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Runs a continuous decision loop (up to 1,000 iters). Reads goals, calls flows, stores memory, checks in with supervisor.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Chat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00200"/>
            <a:ext cx="141732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18488"/>
            <a:ext cx="138074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claude-sonnet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883664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Conversational interface for users. Has access to all management tools — flows, memory, tables, goals.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1887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54864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Scrape Flow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600200"/>
            <a:ext cx="141732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618488"/>
            <a:ext cx="138074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claude-haiku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83664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Builds read-only browser workflows. Navigates pages, waits for load, queries DOM, returns structured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063240"/>
            <a:ext cx="54864" cy="169164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Action Flow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74720"/>
            <a:ext cx="1417320" cy="22860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3493008"/>
            <a:ext cx="138074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claude-haiku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58184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Builds side-effecting flows with dedup guards and human approval gates. Never re-performs actions.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3063240"/>
            <a:ext cx="54864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Tool Forge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474720"/>
            <a:ext cx="141732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3493008"/>
            <a:ext cx="138074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claude-haiku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3758184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Generates &amp; tests browser/JS tools in a generate→save→test loop (up to 5 attempts). Only returns on passing test.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063240"/>
            <a:ext cx="54864" cy="1691640"/>
          </a:xfrm>
          <a:prstGeom prst="rect">
            <a:avLst/>
          </a:prstGeom>
          <a:solidFill>
            <a:srgbClr val="06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2133"/>
                </a:solidFill>
                <a:latin typeface="Calibri"/>
              </a:rPr>
              <a:t>Setup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474720"/>
            <a:ext cx="1417320" cy="228600"/>
          </a:xfrm>
          <a:prstGeom prst="rect">
            <a:avLst/>
          </a:prstGeom>
          <a:solidFill>
            <a:srgbClr val="06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493008"/>
            <a:ext cx="138074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claude-sonnet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758184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3-phase onboarding: researches company via web, asks clarifying questions, generates system prompt +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Flows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SCRAPE FLOWS  (read-only)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704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ACTION FLOWS  (side-effecting)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53712" y="1097280"/>
            <a:ext cx="36576" cy="3840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5506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Open tab  →  Navigate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Wait for page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51176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551176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Query DOM (CSS selectors)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26664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26664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8152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Take screenshot (optional)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02152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02152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5701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Close tab  →  Return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54864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32503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Agent reads result, decides next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600200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00600" y="160020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65506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Dedup check  →  block if already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075688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2075688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1305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Open tab  →  Navigate to target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2551176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00600" y="2551176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26060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Interact with DOM (click / type / send)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026664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00600" y="3026664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308152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Post-action verify (screenshot / DOM check)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3502152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00600" y="3502152"/>
            <a:ext cx="54864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55701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Queue for Human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977639"/>
            <a:ext cx="3977639" cy="365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00600" y="3977639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4032503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  <a:latin typeface="Calibri"/>
              </a:rPr>
              <a:t>✓ Approved  →  Log to action 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7A8A"/>
                </a:solidFill>
                <a:latin typeface="Calibri"/>
              </a:rPr>
              <a:t>Special steps: __evaluate__ (Claude inspects result)  ·  __transform__ (JS data mapping)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Tool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2133"/>
                </a:solidFill>
                <a:latin typeface="Calibri"/>
              </a:rPr>
              <a:t>Agents can create and call three categories of custom tools, generated from natural language: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64208"/>
            <a:ext cx="27432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54864" cy="32461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822960" cy="2286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755648"/>
            <a:ext cx="78638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133"/>
                </a:solidFill>
                <a:latin typeface="Calibri"/>
              </a:rPr>
              <a:t>Extension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Runs inside Chrome offscreen document. Full tab automation via the `tab` helper 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862072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tab.open(url)  —  open a new tab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27248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3154679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tab.navigate(url)  —  navigate current tab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19856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447288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tab.click(selector)  —  click an element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12464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739896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tab.type(selector, text)  —  type into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05072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4032504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tab.query(selector)  —  extract DOM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4325112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tab.screenshot()  —  capture visual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664208"/>
            <a:ext cx="27432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1664208"/>
            <a:ext cx="54864" cy="3246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1737360"/>
            <a:ext cx="82296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1755648"/>
            <a:ext cx="78638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Server 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029968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133"/>
                </a:solidFill>
                <a:latin typeface="Calibri"/>
              </a:rPr>
              <a:t>Local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35915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Server-side JavaScript with database access. Query custom tables, process 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834640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3" y="2862072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db.select(table, where)  —  read rows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127248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3" y="3154679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db.insert(table, data)  —  store 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3419856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83863" y="3447288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db.deleteRows(table, where)  —  remove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005072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83863" y="4032504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No imports needed — all self-contained.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4297680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83863" y="4325112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Perfect for dedup tracking &amp; data transforms.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1664208"/>
            <a:ext cx="27432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1664208"/>
            <a:ext cx="54864" cy="324612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1737360"/>
            <a:ext cx="822960" cy="22860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1755648"/>
            <a:ext cx="78638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External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2029968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133"/>
                </a:solidFill>
                <a:latin typeface="Calibri"/>
              </a:rPr>
              <a:t>Web Fetch /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35915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E7890"/>
                </a:solidFill>
                <a:latin typeface="Calibri"/>
              </a:rPr>
              <a:t>HTTP requests and Anthropic-powered web search for real-time external data.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2834640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9944" y="2862072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web_fetch(url)  —  fetch any URL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127248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9944" y="3154679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web_search(query)  —  semantic web search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712464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3739896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Used for: competitor monitoring, lead research,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005072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9944" y="4032504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news tracking, API calls to external services.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4297680"/>
            <a:ext cx="2423160" cy="25603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9944" y="4325112"/>
            <a:ext cx="2313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2133"/>
                </a:solidFill>
                <a:latin typeface="Consolas"/>
              </a:rPr>
              <a:t>No credentials needed for public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Memory &amp;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Calibri"/>
              </a:rPr>
              <a:t>PERSISTENT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393192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54864" cy="6858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  <a:latin typeface="Calibri"/>
              </a:rPr>
              <a:t>Auto-enrichment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Tool results are automatically processed by Claude Haiku to extract meaningful, searchable facts.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68296"/>
            <a:ext cx="393192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68296"/>
            <a:ext cx="54864" cy="6858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14015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  <a:latin typeface="Calibri"/>
              </a:rPr>
              <a:t>Deduplication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7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Facts are hashed (SHA256) — duplicates never stored. Memory stays clean over thousands of iterations.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63824"/>
            <a:ext cx="393192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63824"/>
            <a:ext cx="54864" cy="6858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954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  <a:latin typeface="Calibri"/>
              </a:rPr>
              <a:t>Searchable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9300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Keyword + entity search across categories: profile, post, research, market_data, interaction…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59352"/>
            <a:ext cx="393192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59352"/>
            <a:ext cx="54864" cy="6858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  <a:latin typeface="Calibri"/>
              </a:rPr>
              <a:t>Agent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Manager Agent calls recall_memory before acting. Context informs every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097280"/>
            <a:ext cx="36576" cy="3840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1704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TONE LEARNING  (Operation Keystone)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572768"/>
            <a:ext cx="411480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1572768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6184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Human Edits →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9019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When a reviewer edits agent-generated text, the (original → corrected) pair is stored in toneEdits 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368296"/>
            <a:ext cx="411480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2368296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414015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Compile Tone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69747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refreshToneGuide compiles edit pairs into a JSON array of learned writing rules using Claude.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163824"/>
            <a:ext cx="411480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3163824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20954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Profile Blob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4930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System prompt is parsed into tone[], restricted[], allowed[], competitors[], focus fields.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959352"/>
            <a:ext cx="4114800" cy="6858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63440" y="3959352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40050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Runtime 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2885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Tone guide + profile blob injected into generation steps — agents write in your 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Human-in-the-Loop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1828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007A8A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920240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371600"/>
            <a:ext cx="5486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2133"/>
                </a:solidFill>
                <a:latin typeface="Calibri"/>
              </a:rPr>
              <a:t>Agent Decides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E7890"/>
                </a:solidFill>
                <a:latin typeface="Calibri"/>
              </a:rPr>
              <a:t>Manager Agent identifies an action to take (e.g. send DM, post comment).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007A8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1188720"/>
            <a:ext cx="19202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37160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371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01168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2133"/>
                </a:solidFill>
                <a:latin typeface="Calibri"/>
              </a:rPr>
              <a:t>Action Queued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42316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E7890"/>
                </a:solidFill>
                <a:latin typeface="Calibri"/>
              </a:rPr>
              <a:t>Action flows with requires_approval: true are held in the pending review queue.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007A8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1188720"/>
            <a:ext cx="1920240" cy="64008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1371600"/>
            <a:ext cx="548640" cy="54864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1371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201168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2133"/>
                </a:solidFill>
                <a:latin typeface="Calibri"/>
              </a:rPr>
              <a:t>Human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242316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E7890"/>
                </a:solidFill>
                <a:latin typeface="Calibri"/>
              </a:rPr>
              <a:t>Operator sees full context: input, result, dedup key, and reasoning chain.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18872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1188720"/>
            <a:ext cx="19202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37160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1371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01168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2133"/>
                </a:solidFill>
                <a:latin typeface="Calibri"/>
              </a:rPr>
              <a:t>Play / Reject / Amend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42316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E7890"/>
                </a:solidFill>
                <a:latin typeface="Calibri"/>
              </a:rPr>
              <a:t>Approved → logged to action history. Rejected → agent tries alternate. Amended → tone is learned.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13632"/>
            <a:ext cx="850392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913632"/>
            <a:ext cx="54864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77639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  <a:latin typeface="Calibri"/>
              </a:rPr>
              <a:t>DEDUPLICATION GUARDS — Never perform the same action twice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1596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HARD STOP — action permanently blocked for this target key  ·  SOFT STOP — blocked until configurable cooldown expires  ·  Block message guides the agent to 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Scheduling, Goals &amp;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70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CRON SCHEDULER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5-field cron 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Standard minute/hour/day/month/weekday scheduling via node-cron.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33472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33472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Trigger any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Each schedule points to a flow with an input payload — runs fully autonomously.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94176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94176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Enable / Disable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5993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Schedules can be paused and resumed at runtime without code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170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GOAL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572768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6276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Mission →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93852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Hierarchical goals: Mission ▸ Objectives ▸ Tasks with status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633472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2633472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6883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Agent-driven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9992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Manager Agent reads the goal tree at start of each session to prioritize 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694176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3694176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7490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Status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05993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pending → in_progress → completed / blocked / cancelled — full lifecycle.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170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15BF0"/>
                </a:solidFill>
                <a:latin typeface="Calibri"/>
              </a:rPr>
              <a:t>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572768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572768"/>
            <a:ext cx="54864" cy="96012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6276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15BF0"/>
                </a:solidFill>
                <a:latin typeface="Calibri"/>
              </a:rPr>
              <a:t>Action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93852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Every flow call recorded: flowName, input, result, blocked?, runId.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633472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633472"/>
            <a:ext cx="54864" cy="96012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6883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15BF0"/>
                </a:solidFill>
                <a:latin typeface="Calibri"/>
              </a:rPr>
              <a:t>Performance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992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Outcome categories: outreach, lead, content, tool, flow for strategy review.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694176"/>
            <a:ext cx="2743200" cy="960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694176"/>
            <a:ext cx="54864" cy="96012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7490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15BF0"/>
                </a:solidFill>
                <a:latin typeface="Calibri"/>
              </a:rPr>
              <a:t>Cost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Token counts + Haiku pricing tracked per run session for budget awareness.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129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TELEGRAM BOT INTEGRATION — Agents accept commands via Telegram and respond in real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Operation Vantage  —  Two-Agent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  <a:latin typeface="Calibri"/>
              </a:rPr>
              <a:t>The next evolution: separating scouting from writing for higher quality and full transparency.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645920"/>
            <a:ext cx="1920240" cy="2103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5780" y="1645920"/>
            <a:ext cx="1920240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55648"/>
            <a:ext cx="1463040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" y="1773936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✓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048256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C8E0"/>
                </a:solidFill>
                <a:latin typeface="Calibri"/>
              </a:rPr>
              <a:t>Haiku Scout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487168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Browses, recalls memory,
queries tables, produces
a rich ActionBrief with
decision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164" y="265176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7A8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3180" y="1645920"/>
            <a:ext cx="1920240" cy="2103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3180" y="1645920"/>
            <a:ext cx="19202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8900" y="1755648"/>
            <a:ext cx="1463040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7188" y="1773936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4620" y="2048256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Calibri"/>
              </a:rPr>
              <a:t>__hydrate__
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4620" y="2487168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Re-executes all references
in the ActionBrief fresh
at review time — no
stale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2564" y="265176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7A8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0580" y="1645920"/>
            <a:ext cx="1920240" cy="2103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0580" y="1645920"/>
            <a:ext cx="1920240" cy="64008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1755648"/>
            <a:ext cx="1463040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4588" y="1773936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2020" y="2048256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15BF0"/>
                </a:solidFill>
                <a:latin typeface="Calibri"/>
              </a:rPr>
              <a:t>Sonnet Writer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2020" y="2487168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Generates final content
from hydrated context
+ tone guide + profile
blob injected.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9964" y="265176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7A8A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7980" y="1645920"/>
            <a:ext cx="1920240" cy="21031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97980" y="1645920"/>
            <a:ext cx="19202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43700" y="1755648"/>
            <a:ext cx="1463040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1988" y="1773936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9420" y="2048256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  <a:latin typeface="Calibri"/>
              </a:rPr>
              <a:t>Review 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9420" y="2487168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Shows complete reasoning
chain — not just draft.
Human sees why agent
decided to act.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370832"/>
            <a:ext cx="8503920" cy="621792"/>
          </a:xfrm>
          <a:prstGeom prst="rect">
            <a:avLst/>
          </a:prstGeom>
          <a:solidFill>
            <a:srgbClr val="1E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370832"/>
            <a:ext cx="54864" cy="621792"/>
          </a:xfrm>
          <a:prstGeom prst="rect">
            <a:avLst/>
          </a:prstGeom>
          <a:solidFill>
            <a:srgbClr val="815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2569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15BF0"/>
                </a:solidFill>
                <a:latin typeface="Calibri"/>
              </a:rPr>
              <a:t>Why it matters: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Eliminates tone violations  ·  Full reasoning transparency in review queue  ·  Tone guide + profile blob live-injected  ·  Fresher data at review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1828800"/>
            <a:ext cx="9070848" cy="150876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1783080"/>
            <a:ext cx="9070848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3291840"/>
            <a:ext cx="9070848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019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AgentSpawner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C8E0"/>
                </a:solidFill>
                <a:latin typeface="Calibri"/>
              </a:rPr>
              <a:t>in a sentence: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56432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F0F8"/>
                </a:solidFill>
                <a:latin typeface="Calibri"/>
              </a:rPr>
              <a:t>A self-improving, multi-agent AI framework that autonomously operates browsers,
executes multi-step workflows, maintains long-term memory, and keeps humans in
control — all powered by Anthropic Claude.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00C8E0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7890"/>
                </a:solidFill>
                <a:latin typeface="Calibri"/>
              </a:rPr>
              <a:t>Specialist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200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00C8E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1155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7890"/>
                </a:solidFill>
                <a:latin typeface="Calibri"/>
              </a:rPr>
              <a:t>Tool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00C8E0"/>
                </a:solidFill>
                <a:latin typeface="Calibri"/>
              </a:rP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1155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7890"/>
                </a:solidFill>
                <a:latin typeface="Calibri"/>
              </a:rPr>
              <a:t>Flow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3200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00C8E0"/>
                </a:solidFill>
                <a:latin typeface="Calibri"/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399" y="11155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7890"/>
                </a:solidFill>
                <a:latin typeface="Calibri"/>
              </a:rPr>
              <a:t>Max Iterations /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07A8A"/>
                </a:solidFill>
                <a:latin typeface="Calibri"/>
              </a:rPr>
              <a:t>Built with  Fastify · React · TypeScript · Drizzle ORM · Chrome Manifest V3 · Claude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